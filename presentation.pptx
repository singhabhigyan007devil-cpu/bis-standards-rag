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3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0000"/>
                </a:solidFill>
              </a:rPr>
              <a:t>🏗️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Standards Recommendation Engine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Compliance Discovery for Indian Micro &amp; Small Enterprises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6400800" cy="36576"/>
          </a:xfrm>
          <a:prstGeom prst="rect">
            <a:avLst/>
          </a:prstGeom>
          <a:solidFill>
            <a:srgbClr val="1DB8C9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description to BIS standard — in seconds.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× SS Hackathon  •  May 2026  •  Track: AI / RAG</a:t>
            </a:r>
            <a:endParaRPr lang="en-US" sz="1000" dirty="0"/>
          </a:p>
        </p:txBody>
      </p:sp>
      <p:sp>
        <p:nvSpPr>
          <p:cNvPr id="10" name="TeamName"/>
          <p:cNvSpPr/>
          <p:nvPr/>
        </p:nvSpPr>
        <p:spPr>
          <a:xfrm>
            <a:off x="1371600" y="3600000"/>
            <a:ext cx="6400800" cy="380000"/>
          </a:xfrm>
          <a:prstGeom prst="rect">
            <a:avLst/>
          </a:prstGeom>
          <a:solidFill>
            <a:srgbClr val="071E35"/>
          </a:solidFill>
          <a:ln w="19050">
            <a:solidFill>
              <a:srgbClr val="00C8FF"/>
            </a:solidFill>
          </a:ln>
        </p:spPr>
        <p:txBody>
          <a:bodyPr wrap="square" lIns="91440" r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</a:rPr>
              <a:t>Team: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Abhigyan Singh  |  Waseem Raza</a:t>
            </a:r>
          </a:p>
        </p:txBody>
      </p:sp>
      <p:sp>
        <p:nvSpPr>
          <p:cNvPr id="11" name="IntroText"/>
          <p:cNvSpPr/>
          <p:nvPr/>
        </p:nvSpPr>
        <p:spPr>
          <a:xfrm>
            <a:off x="1371600" y="4060000"/>
            <a:ext cx="64008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</a:rPr>
              <a:t>Helping Indian MSEs find the right BIS standard instantly — using RAG, BM25 + FAISS hybrid retrieval.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MSEs Spend Weeks on What Should Take Seconds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64008" cy="2606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651760" cy="2606040"/>
          </a:xfrm>
          <a:prstGeom prst="rect">
            <a:avLst/>
          </a:prstGeom>
          <a:solidFill>
            <a:srgbClr val="112840"/>
          </a:solidFill>
          <a:ln w="15240">
            <a:solidFill>
              <a:srgbClr val="1DB8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in India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~5% have dedicated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2606040"/>
          </a:xfrm>
          <a:prstGeom prst="rect">
            <a:avLst/>
          </a:prstGeom>
          <a:solidFill>
            <a:srgbClr val="112840"/>
          </a:solidFill>
          <a:ln w="15240">
            <a:solidFill>
              <a:srgbClr val="1DB8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08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Lost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identify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BIS standards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51760" cy="2606040"/>
          </a:xfrm>
          <a:prstGeom prst="rect">
            <a:avLst/>
          </a:prstGeom>
          <a:solidFill>
            <a:srgbClr val="112840"/>
          </a:solidFill>
          <a:ln w="15240">
            <a:solidFill>
              <a:srgbClr val="1DB8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08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categories — nearly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search manually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Building Materials (Cement, Steel, Concrete, Aggregates), non-compliance means rejected shipments,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shutdowns, and loss of BIS certification — crippling for small enterprises with limited resources.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affordable, fast, AI-powered tool exists for MSEs to self-serve BIS discovery.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Query. Instant BIS Standards. Full Rationale.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943600" cy="749808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language product description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'high strength cement for construction')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5943600" cy="749808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048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semantically similar BIS standard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from a FAISS vector index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5943600" cy="749808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35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735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scoring: semantic similarity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keyword overlap for precision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5943600" cy="749808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14223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 1–2 sentence rationale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standard — grounded in the 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188720"/>
            <a:ext cx="2468880" cy="3474720"/>
          </a:xfrm>
          <a:prstGeom prst="rect">
            <a:avLst/>
          </a:prstGeom>
          <a:solidFill>
            <a:srgbClr val="112840"/>
          </a:solidFill>
          <a:ln w="15240">
            <a:solidFill>
              <a:srgbClr val="1DB8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554480"/>
            <a:ext cx="2468880" cy="27432"/>
          </a:xfrm>
          <a:prstGeom prst="rect">
            <a:avLst/>
          </a:prstGeom>
          <a:solidFill>
            <a:srgbClr val="1DB8C9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— IS 8112 : 1989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19202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standard specifies requirements for 43 grade ordinary Portland cement used in general construction, matching your query for high-strength cement applications.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2633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— IS 1489 : Part 1 : 1991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9077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Portland pozzolana cement (fly ash based) with strength properties relevant to structural concrete applications.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— IS 455 : 1989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 slag cement standard applicable for construction requiring moderate heat of hydration and sulfate resistance.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" y="1234440"/>
            <a:ext cx="1325880" cy="1417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35608" y="1828800"/>
            <a:ext cx="16459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234440"/>
            <a:ext cx="1325880" cy="1417320"/>
          </a:xfrm>
          <a:prstGeom prst="rect">
            <a:avLst/>
          </a:prstGeom>
          <a:solidFill>
            <a:srgbClr val="1DB8C9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828800"/>
            <a:ext cx="16459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234440"/>
            <a:ext cx="1325880" cy="1417320"/>
          </a:xfrm>
          <a:prstGeom prst="rect">
            <a:avLst/>
          </a:prstGeom>
          <a:solidFill>
            <a:srgbClr val="1DB8C9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Search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90672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Top-K=10 results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16552" y="1828800"/>
            <a:ext cx="16459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81144" y="1234440"/>
            <a:ext cx="1325880" cy="1417320"/>
          </a:xfrm>
          <a:prstGeom prst="rect">
            <a:avLst/>
          </a:prstGeom>
          <a:solidFill>
            <a:srgbClr val="1DB8C9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Reranker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81144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shortlist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07024" y="1828800"/>
            <a:ext cx="16459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1234440"/>
            <a:ext cx="1325880" cy="1417320"/>
          </a:xfrm>
          <a:prstGeom prst="rect">
            <a:avLst/>
          </a:prstGeom>
          <a:solidFill>
            <a:srgbClr val="1DB8C9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71616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gen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97496" y="1828800"/>
            <a:ext cx="16459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2088" y="1234440"/>
            <a:ext cx="1325880" cy="1417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62088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reason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latency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(one-time):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28" y="3246120"/>
            <a:ext cx="16002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" y="3246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SP 21 PDF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09928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4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92808" y="3246120"/>
            <a:ext cx="1600200" cy="502920"/>
          </a:xfrm>
          <a:prstGeom prst="rect">
            <a:avLst/>
          </a:prstGeom>
          <a:solidFill>
            <a:srgbClr val="0E2A45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92808" y="3246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Parser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93008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4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75888" y="3246120"/>
            <a:ext cx="1600200" cy="502920"/>
          </a:xfrm>
          <a:prstGeom prst="rect">
            <a:avLst/>
          </a:prstGeom>
          <a:solidFill>
            <a:srgbClr val="0E2A45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3246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76088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4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58968" y="3246120"/>
            <a:ext cx="1600200" cy="502920"/>
          </a:xfrm>
          <a:prstGeom prst="rect">
            <a:avLst/>
          </a:prstGeom>
          <a:solidFill>
            <a:srgbClr val="0E2A45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58968" y="3246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Encoder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59168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4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242048" y="3246120"/>
            <a:ext cx="16002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3246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+ Pickle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2245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 •  FAISS-CPU  •  Groq API (Llama 3.1 8B)  •  PyMuPDF  •  Streamlit  •  Python 3.9+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CHUNKING &amp; RETRIEVAL STRATEGY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Approach 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749040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Chunking Strategy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Standard-boundary chunking — one chunk ≈ one IS standard summary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 preserves paragraph structure vs naive pypdf splits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352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retains the IS XXXX identifier for regex extraction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chunk size: ~300–500 tokens — fits LLM context cleanly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873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 needed: standard summaries are self-contained units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114800" cy="3749040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98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Hybrid Retrieval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Semantic 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IndexFlatL2 with MiniLM embeddings.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k=10 candidates via cosine similarity.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Keyword Reranking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candidate by counting query-word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 in chunk text. Promotes exact matches.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Deduplication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repeated IS numbers. Guarantees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standards in the final top-5 output.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389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LLM Rationale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663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 8B explains relevance using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chunk text — no hallucination risk.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DEMO HIGHLIGHTS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 on BIS SP 21 Dataset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1078992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 strength cement for building construction"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13075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1.8s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8112 : 1989 — 43 Grade OPC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1489 : Part 1 — PPC Fly 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939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455 — Portland Slag Cement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8595360" cy="1078992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"reinforcement steel bars for RCC slabs"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52374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2.1s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895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1786 : 2008 — HYSD Steel Bars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998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432 : Part 1 — Mild Steel Bars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2502 — Steel Bar Bending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666744"/>
            <a:ext cx="8595360" cy="1078992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3989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"coarse aggregate for concrete mix design"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373989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2.3s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056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383 : 2016 — Coarse Aggregates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15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2386 : Part 1 — Aggregate Testing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</a:t>
            </a: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10262 — Concrete Mix Design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EVALUATION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Metrics — Public Test Set (10 Queries)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2103120"/>
          </a:xfrm>
          <a:prstGeom prst="rect">
            <a:avLst/>
          </a:prstGeom>
          <a:solidFill>
            <a:srgbClr val="112840"/>
          </a:solidFill>
          <a:ln w="15240">
            <a:solidFill>
              <a:srgbClr val="1DB8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@3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Exceeds Target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234440"/>
            <a:ext cx="2743200" cy="2103120"/>
          </a:xfrm>
          <a:prstGeom prst="rect">
            <a:avLst/>
          </a:prstGeom>
          <a:solidFill>
            <a:srgbClr val="112840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3533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@5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27832" y="1691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227832" y="2395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&gt;0.70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7832" y="2697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Exceeds 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234440"/>
            <a:ext cx="2743200" cy="2103120"/>
          </a:xfrm>
          <a:prstGeom prst="rect">
            <a:avLst/>
          </a:prstGeom>
          <a:solidFill>
            <a:srgbClr val="112840"/>
          </a:solidFill>
          <a:ln w="15240">
            <a:solidFill>
              <a:srgbClr val="1DB8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3533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1691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181344" y="2395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 sec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2697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Well Within Target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Evaluation (Semi-Automated):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858768"/>
            <a:ext cx="4114800" cy="822960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/ 5.0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20240" y="43159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5-query judge review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858768"/>
            <a:ext cx="4114800" cy="822960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2245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43600" y="4315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imaginary standards detected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07–08  IMPACT &amp;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 for Indian MSEs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486400" cy="749808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1325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→ Seconds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600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discovery time reduced from 3–6 weeks to under 5 seconds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5486400" cy="749808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" y="2194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468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open-source models + free-tier Groq API — no licensing fees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486400" cy="749808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87552" y="3063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337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MSEs can query without compliance experts or government consultants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5486400" cy="749808"/>
          </a:xfrm>
          <a:prstGeom prst="rect">
            <a:avLst/>
          </a:prstGeom>
          <a:solidFill>
            <a:srgbClr val="112840"/>
          </a:solidFill>
          <a:ln w="15240">
            <a:solidFill>
              <a:srgbClr val="0E2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3931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206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constrained to document text — no hallucinated standards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4736592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expansion  •  Regional language support  •  BIS portal integration  •  Mobile app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234440"/>
            <a:ext cx="2834640" cy="3474720"/>
          </a:xfrm>
          <a:prstGeom prst="rect">
            <a:avLst/>
          </a:prstGeom>
          <a:solidFill>
            <a:srgbClr val="112840"/>
          </a:solidFill>
          <a:ln w="15240">
            <a:solidFill>
              <a:srgbClr val="1DB8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3258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Our Team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2834640" cy="36576"/>
          </a:xfrm>
          <a:prstGeom prst="rect">
            <a:avLst/>
          </a:prstGeom>
          <a:solidFill>
            <a:srgbClr val="1DB8C9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🧑‍💻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75120" y="18470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Waseem Raza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3058199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Pipeline, Evaluation &amp; Data Ingestion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🧑‍💻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75120" y="2852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Abhigyan Singh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1976921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UI/UX, Testing &amp; Documentation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840480"/>
            <a:ext cx="2834640" cy="36576"/>
          </a:xfrm>
          <a:prstGeom prst="rect">
            <a:avLst/>
          </a:prstGeom>
          <a:solidFill>
            <a:srgbClr val="1DB8C9"/>
          </a:solidFill>
          <a:ln w="12700">
            <a:solidFill>
              <a:srgbClr val="1DB8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8953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Acknowledgements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416966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 Indian Standards (BIS)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— sentence-transformers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LLM inference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890</Words>
  <Application>Microsoft Office PowerPoint</Application>
  <PresentationFormat>On-screen Show (16:9)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Abhigyan SINGH</cp:lastModifiedBy>
  <cp:revision>3</cp:revision>
  <dcterms:created xsi:type="dcterms:W3CDTF">2026-05-02T06:41:58Z</dcterms:created>
  <dcterms:modified xsi:type="dcterms:W3CDTF">2026-05-03T07:19:34Z</dcterms:modified>
</cp:coreProperties>
</file>